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Calibri"/>
              </a:rPr>
              <a:t>Harbor Ridge Fund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libri"/>
              </a:rPr>
              <a:t>Q3 2026 investor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Calibri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Calibri"/>
              </a:rPr>
              <a:t>NAV of $248.6m at 30 Sep 2026, up 3.2% quarter on quarter.</a:t>
            </a:r>
          </a:p>
          <a:p>
            <a:r>
              <a:rPr sz="1800" b="0">
                <a:latin typeface="Calibri"/>
              </a:rPr>
              <a:t>Net IRR since inception of 14.2% and TVPI of 1.48x.</a:t>
            </a:r>
          </a:p>
          <a:p>
            <a:r>
              <a:rPr sz="1800" b="0">
                <a:latin typeface="Calibri"/>
              </a:rPr>
              <a:t>Distributions of $4.25m paid during the quarter.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Calibri"/>
              </a:rPr>
              <a:t>Strictly 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en-US" sz="1000"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Calibri"/>
              </a:rPr>
              <a:t>Portfolio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Calibri"/>
              </a:rPr>
              <a:t>Lakeside Commons: occupancy 94.0%, NOI ahead of budget.</a:t>
            </a:r>
          </a:p>
          <a:p>
            <a:r>
              <a:rPr sz="1800" b="0">
                <a:latin typeface="Arial"/>
              </a:rPr>
              <a:t>Riverbend Industrial: occupancy 88.0%. NOI was 12.5% below budget for the quarter.</a:t>
            </a:r>
          </a:p>
          <a:p>
            <a:r>
              <a:rPr sz="1800" b="0">
                <a:latin typeface="Calibri"/>
              </a:rPr>
              <a:t>Cedar Point Lofts: NOI of $1.41m, in line with plan.</a:t>
            </a:r>
          </a:p>
          <a:p>
            <a:r>
              <a:rPr sz="1800" b="0">
                <a:latin typeface="Calibri"/>
              </a:rPr>
              <a:t>Compared with Q2 2026, leasing velocity improved across the portfolio.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Calibri"/>
              </a:rPr>
              <a:t>Strictly 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en-US" sz="1000"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Calibri"/>
              </a:rPr>
              <a:t>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Calibri"/>
              </a:rPr>
              <a:t>Q3 2026 distribution of $4.25m paid to LPs on 15 October.</a:t>
            </a:r>
          </a:p>
          <a:p>
            <a:r>
              <a:rPr sz="1800" b="0">
                <a:latin typeface="Calibri"/>
              </a:rPr>
              <a:t>A further $5.1m is held in reserve for capex.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en-US" sz="1000"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Calibri"/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Calibri"/>
              </a:rPr>
              <a:t>Refinancing of Riverbend Industrial expected in Q1 2027; terms TBD.</a:t>
            </a:r>
          </a:p>
          <a:p>
            <a:r>
              <a:rPr sz="1800" b="0">
                <a:latin typeface="Calibri"/>
              </a:rPr>
              <a:t>We expect occupancy to stay above 90% across the portfolio.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Calibri"/>
              </a:rPr>
              <a:t>Strictly 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en-US" sz="1000"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